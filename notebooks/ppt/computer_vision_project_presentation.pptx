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0" r:id="rId5"/>
    <p:sldId id="261" r:id="rId6"/>
    <p:sldId id="262" r:id="rId7"/>
    <p:sldId id="263" r:id="rId8"/>
    <p:sldId id="264" r:id="rId9"/>
    <p:sldId id="265" r:id="rId10"/>
    <p:sldId id="266" r:id="rId11"/>
    <p:sldId id="267"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9" d="100"/>
          <a:sy n="99" d="100"/>
        </p:scale>
        <p:origin x="99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2130425"/>
            <a:ext cx="7772400" cy="1470025"/>
          </a:xfrm>
        </p:spPr>
        <p:txBody>
          <a:bodyPr/>
          <a:lstStyle/>
          <a:p>
            <a:r>
              <a:rPr dirty="0"/>
              <a:t>Computer Vision Vehicle Detection &amp; Tracking</a:t>
            </a:r>
          </a:p>
        </p:txBody>
      </p:sp>
      <p:sp>
        <p:nvSpPr>
          <p:cNvPr id="3" name="Subtitle 2"/>
          <p:cNvSpPr>
            <a:spLocks noGrp="1"/>
          </p:cNvSpPr>
          <p:nvPr>
            <p:ph type="subTitle" idx="1"/>
          </p:nvPr>
        </p:nvSpPr>
        <p:spPr>
          <a:xfrm>
            <a:off x="6703995" y="5981700"/>
            <a:ext cx="6400800" cy="1752600"/>
          </a:xfrm>
        </p:spPr>
        <p:txBody>
          <a:bodyPr/>
          <a:lstStyle/>
          <a:p>
            <a:r>
              <a:rPr lang="en-US" dirty="0" err="1"/>
              <a:t>Fadoua</a:t>
            </a:r>
            <a:r>
              <a:rPr lang="en-US" dirty="0"/>
              <a:t> Abdoulmoulah</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1. Problem &amp; Objectives</a:t>
            </a:r>
          </a:p>
        </p:txBody>
      </p:sp>
      <p:sp>
        <p:nvSpPr>
          <p:cNvPr id="3" name="Content Placeholder 2"/>
          <p:cNvSpPr>
            <a:spLocks noGrp="1"/>
          </p:cNvSpPr>
          <p:nvPr>
            <p:ph idx="1"/>
          </p:nvPr>
        </p:nvSpPr>
        <p:spPr/>
        <p:txBody>
          <a:bodyPr/>
          <a:lstStyle/>
          <a:p>
            <a:pPr>
              <a:defRPr sz="2200"/>
            </a:pPr>
            <a:r>
              <a:rPr dirty="0"/>
              <a:t>Detect cars in a short road video.</a:t>
            </a:r>
          </a:p>
          <a:p>
            <a:pPr>
              <a:defRPr sz="2200"/>
            </a:pPr>
            <a:r>
              <a:rPr dirty="0"/>
              <a:t>Track multiple vehicles with stable Track IDs.</a:t>
            </a:r>
          </a:p>
          <a:p>
            <a:pPr>
              <a:defRPr sz="2200"/>
            </a:pPr>
            <a:r>
              <a:rPr dirty="0"/>
              <a:t>Visualize bounding boxes, confidence and identities.</a:t>
            </a:r>
          </a:p>
          <a:p>
            <a:pPr>
              <a:defRPr sz="2200"/>
            </a:pPr>
            <a:r>
              <a:rPr dirty="0"/>
              <a:t>Analyze tracking failures such as detection loss and ID switches.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2. Pipeline Architecture</a:t>
            </a:r>
          </a:p>
        </p:txBody>
      </p:sp>
      <p:sp>
        <p:nvSpPr>
          <p:cNvPr id="3" name="Content Placeholder 2"/>
          <p:cNvSpPr>
            <a:spLocks noGrp="1"/>
          </p:cNvSpPr>
          <p:nvPr>
            <p:ph idx="1"/>
          </p:nvPr>
        </p:nvSpPr>
        <p:spPr/>
        <p:txBody>
          <a:bodyPr/>
          <a:lstStyle/>
          <a:p>
            <a:pPr>
              <a:defRPr sz="2200"/>
            </a:pPr>
            <a:r>
              <a:rPr dirty="0"/>
              <a:t>Input video → OpenCV frame extraction</a:t>
            </a:r>
          </a:p>
          <a:p>
            <a:pPr>
              <a:defRPr sz="2200"/>
            </a:pPr>
            <a:r>
              <a:rPr dirty="0"/>
              <a:t>YOLO → car detection</a:t>
            </a:r>
          </a:p>
          <a:p>
            <a:pPr>
              <a:defRPr sz="2200"/>
            </a:pPr>
            <a:r>
              <a:rPr dirty="0" err="1"/>
              <a:t>ByteTrack</a:t>
            </a:r>
            <a:r>
              <a:rPr dirty="0"/>
              <a:t> → multi-object tracking</a:t>
            </a:r>
          </a:p>
          <a:p>
            <a:pPr>
              <a:defRPr sz="2200"/>
            </a:pPr>
            <a:r>
              <a:rPr dirty="0"/>
              <a:t>Per-car output → bounding box + confidence + Track ID</a:t>
            </a:r>
          </a:p>
          <a:p>
            <a:pPr>
              <a:defRPr sz="2200"/>
            </a:pPr>
            <a:r>
              <a:rPr dirty="0"/>
              <a:t>Visualization → annotated output video</a:t>
            </a:r>
          </a:p>
          <a:p>
            <a:pPr>
              <a:defRPr sz="2200"/>
            </a:pPr>
            <a:r>
              <a:rPr dirty="0"/>
              <a:t>Analysis → tracking statistics and failure investigation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4. Object Detection</a:t>
            </a:r>
          </a:p>
        </p:txBody>
      </p:sp>
      <p:sp>
        <p:nvSpPr>
          <p:cNvPr id="3" name="Content Placeholder 2"/>
          <p:cNvSpPr>
            <a:spLocks noGrp="1"/>
          </p:cNvSpPr>
          <p:nvPr>
            <p:ph idx="1"/>
          </p:nvPr>
        </p:nvSpPr>
        <p:spPr/>
        <p:txBody>
          <a:bodyPr/>
          <a:lstStyle/>
          <a:p>
            <a:pPr>
              <a:defRPr sz="2200"/>
            </a:pPr>
            <a:r>
              <a:rPr dirty="0"/>
              <a:t>Current model: </a:t>
            </a:r>
            <a:r>
              <a:rPr dirty="0" err="1"/>
              <a:t>Ultralytics</a:t>
            </a:r>
            <a:r>
              <a:rPr dirty="0"/>
              <a:t> YOLO26n.</a:t>
            </a:r>
          </a:p>
          <a:p>
            <a:pPr>
              <a:defRPr sz="2200"/>
            </a:pPr>
            <a:r>
              <a:rPr dirty="0"/>
              <a:t>Target class: car.</a:t>
            </a:r>
          </a:p>
          <a:p>
            <a:pPr>
              <a:defRPr sz="2200"/>
            </a:pPr>
            <a:r>
              <a:rPr dirty="0"/>
              <a:t>Inference size: 1280.</a:t>
            </a:r>
          </a:p>
          <a:p>
            <a:pPr>
              <a:defRPr sz="2200"/>
            </a:pPr>
            <a:r>
              <a:rPr dirty="0"/>
              <a:t>Current detection confidence passed to tracking: 0.05.</a:t>
            </a:r>
          </a:p>
          <a:p>
            <a:pPr>
              <a:defRPr sz="2200"/>
            </a:pPr>
            <a:r>
              <a:rPr dirty="0" err="1"/>
              <a:t>IoU</a:t>
            </a:r>
            <a:r>
              <a:rPr dirty="0"/>
              <a:t> parameter: 0.7.</a:t>
            </a:r>
          </a:p>
          <a:p>
            <a:pPr>
              <a:defRPr sz="2200"/>
            </a:pPr>
            <a:r>
              <a:rPr dirty="0"/>
              <a:t>Stored observation: </a:t>
            </a:r>
            <a:r>
              <a:rPr dirty="0" err="1"/>
              <a:t>bbox</a:t>
            </a:r>
            <a:r>
              <a:rPr dirty="0"/>
              <a:t>, confidence and Track ID.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5. Multi-Object Tracking</a:t>
            </a:r>
          </a:p>
        </p:txBody>
      </p:sp>
      <p:sp>
        <p:nvSpPr>
          <p:cNvPr id="3" name="Content Placeholder 2"/>
          <p:cNvSpPr>
            <a:spLocks noGrp="1"/>
          </p:cNvSpPr>
          <p:nvPr>
            <p:ph idx="1"/>
          </p:nvPr>
        </p:nvSpPr>
        <p:spPr/>
        <p:txBody>
          <a:bodyPr/>
          <a:lstStyle/>
          <a:p>
            <a:pPr>
              <a:defRPr sz="2200"/>
            </a:pPr>
            <a:r>
              <a:rPr dirty="0" err="1"/>
              <a:t>ByteTrack</a:t>
            </a:r>
            <a:r>
              <a:rPr dirty="0"/>
              <a:t> is used for multi-object tracking.</a:t>
            </a:r>
          </a:p>
          <a:p>
            <a:pPr>
              <a:defRPr sz="2200"/>
            </a:pPr>
            <a:r>
              <a:rPr dirty="0"/>
              <a:t>persist=True maintains tracker state across frames.</a:t>
            </a:r>
          </a:p>
          <a:p>
            <a:pPr>
              <a:defRPr sz="2200"/>
            </a:pPr>
            <a:r>
              <a:rPr dirty="0"/>
              <a:t>A custom </a:t>
            </a:r>
            <a:r>
              <a:rPr dirty="0" err="1"/>
              <a:t>ByteTrack</a:t>
            </a:r>
            <a:r>
              <a:rPr dirty="0"/>
              <a:t> YAML was introduced.</a:t>
            </a:r>
          </a:p>
          <a:p>
            <a:pPr>
              <a:defRPr sz="2200"/>
            </a:pPr>
            <a:r>
              <a:rPr dirty="0" err="1"/>
              <a:t>track_buffer</a:t>
            </a:r>
            <a:r>
              <a:rPr dirty="0"/>
              <a:t>=90 gives roughly 3 seconds of recovery time at ~30 FPS.</a:t>
            </a:r>
          </a:p>
          <a:p>
            <a:pPr>
              <a:defRPr sz="2200"/>
            </a:pPr>
            <a:r>
              <a:rPr dirty="0"/>
              <a:t>Low-confidence detections can support track association/recovery.</a:t>
            </a:r>
          </a:p>
          <a:p>
            <a:pPr>
              <a:defRPr sz="2200"/>
            </a:pPr>
            <a:r>
              <a:rPr dirty="0"/>
              <a:t>The custom tracker improved ID continuity compared with the earlier setup.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6. Custom ByteTrack Configuration</a:t>
            </a:r>
          </a:p>
        </p:txBody>
      </p:sp>
      <p:sp>
        <p:nvSpPr>
          <p:cNvPr id="3" name="Content Placeholder 2"/>
          <p:cNvSpPr>
            <a:spLocks noGrp="1"/>
          </p:cNvSpPr>
          <p:nvPr>
            <p:ph idx="1"/>
          </p:nvPr>
        </p:nvSpPr>
        <p:spPr/>
        <p:txBody>
          <a:bodyPr/>
          <a:lstStyle/>
          <a:p>
            <a:pPr>
              <a:defRPr sz="2200"/>
            </a:pPr>
            <a:r>
              <a:rPr dirty="0" err="1"/>
              <a:t>track_high_thresh</a:t>
            </a:r>
            <a:r>
              <a:rPr dirty="0"/>
              <a:t>: 0.25</a:t>
            </a:r>
          </a:p>
          <a:p>
            <a:pPr>
              <a:defRPr sz="2200"/>
            </a:pPr>
            <a:r>
              <a:rPr dirty="0" err="1"/>
              <a:t>track_low_thresh</a:t>
            </a:r>
            <a:r>
              <a:rPr dirty="0"/>
              <a:t>: 0.05</a:t>
            </a:r>
          </a:p>
          <a:p>
            <a:pPr>
              <a:defRPr sz="2200"/>
            </a:pPr>
            <a:r>
              <a:rPr dirty="0" err="1"/>
              <a:t>new_track_thresh</a:t>
            </a:r>
            <a:r>
              <a:rPr dirty="0"/>
              <a:t>: 0.30</a:t>
            </a:r>
          </a:p>
          <a:p>
            <a:pPr>
              <a:defRPr sz="2200"/>
            </a:pPr>
            <a:r>
              <a:rPr dirty="0" err="1"/>
              <a:t>track_buffer</a:t>
            </a:r>
            <a:r>
              <a:rPr dirty="0"/>
              <a:t>: 90</a:t>
            </a:r>
          </a:p>
          <a:p>
            <a:pPr>
              <a:defRPr sz="2200"/>
            </a:pPr>
            <a:r>
              <a:rPr dirty="0" err="1"/>
              <a:t>match_thresh</a:t>
            </a:r>
            <a:r>
              <a:rPr dirty="0"/>
              <a:t>: 0.</a:t>
            </a:r>
            <a:r>
              <a:rPr lang="en-US" dirty="0"/>
              <a:t>95</a:t>
            </a:r>
            <a:endParaRPr dirty="0"/>
          </a:p>
          <a:p>
            <a:pPr>
              <a:defRPr sz="2200"/>
            </a:pPr>
            <a:r>
              <a:rPr dirty="0" err="1"/>
              <a:t>fuse_score</a:t>
            </a:r>
            <a:r>
              <a:rPr dirty="0"/>
              <a:t>: true</a:t>
            </a:r>
            <a:endParaRPr lang="en-US" dirty="0"/>
          </a:p>
          <a:p>
            <a:pPr>
              <a:defRPr sz="2200"/>
            </a:pPr>
            <a:endParaRPr lang="en-US" dirty="0"/>
          </a:p>
          <a:p>
            <a:pPr marL="0" indent="0">
              <a:buNone/>
              <a:defRPr sz="2200"/>
            </a:pPr>
            <a:r>
              <a:rPr lang="en-US" dirty="0"/>
              <a:t>The costume </a:t>
            </a:r>
            <a:r>
              <a:rPr lang="en-US" dirty="0" err="1"/>
              <a:t>bytetrack</a:t>
            </a:r>
            <a:r>
              <a:rPr lang="en-US" dirty="0"/>
              <a:t> configuration did fixed the problem with tracking multiple cars while losing track and recovering from the track itself. </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7. Initial Tracking Analysis</a:t>
            </a:r>
          </a:p>
        </p:txBody>
      </p:sp>
      <p:sp>
        <p:nvSpPr>
          <p:cNvPr id="3" name="Content Placeholder 2"/>
          <p:cNvSpPr>
            <a:spLocks noGrp="1"/>
          </p:cNvSpPr>
          <p:nvPr>
            <p:ph idx="1"/>
          </p:nvPr>
        </p:nvSpPr>
        <p:spPr/>
        <p:txBody>
          <a:bodyPr/>
          <a:lstStyle/>
          <a:p>
            <a:pPr>
              <a:defRPr sz="2200"/>
            </a:pPr>
            <a:r>
              <a:rPr dirty="0"/>
              <a:t>Baseline run: 176 unique Track IDs.</a:t>
            </a:r>
          </a:p>
          <a:p>
            <a:pPr>
              <a:defRPr sz="2200"/>
            </a:pPr>
            <a:r>
              <a:rPr dirty="0"/>
              <a:t>Longest track: 479 frames.</a:t>
            </a:r>
          </a:p>
          <a:p>
            <a:pPr>
              <a:defRPr sz="2200"/>
            </a:pPr>
            <a:r>
              <a:rPr dirty="0"/>
              <a:t>Shortest track: 1 frame.</a:t>
            </a:r>
          </a:p>
          <a:p>
            <a:pPr>
              <a:defRPr sz="2200"/>
            </a:pPr>
            <a:r>
              <a:rPr dirty="0"/>
              <a:t>Average track length: 25.91 frames.</a:t>
            </a:r>
          </a:p>
          <a:p>
            <a:pPr>
              <a:defRPr sz="2200"/>
            </a:pPr>
            <a:r>
              <a:rPr dirty="0"/>
              <a:t>Long tracks demonstrate that stable tracking is possible.</a:t>
            </a:r>
          </a:p>
          <a:p>
            <a:pPr>
              <a:defRPr sz="2200"/>
            </a:pPr>
            <a:r>
              <a:rPr dirty="0"/>
              <a:t>Short tracks reveal fragmentation and/or detection failures.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8. Debugging the Bounding Boxes</a:t>
            </a:r>
          </a:p>
        </p:txBody>
      </p:sp>
      <p:sp>
        <p:nvSpPr>
          <p:cNvPr id="3" name="Content Placeholder 2"/>
          <p:cNvSpPr>
            <a:spLocks noGrp="1"/>
          </p:cNvSpPr>
          <p:nvPr>
            <p:ph idx="1"/>
          </p:nvPr>
        </p:nvSpPr>
        <p:spPr/>
        <p:txBody>
          <a:bodyPr/>
          <a:lstStyle/>
          <a:p>
            <a:pPr>
              <a:defRPr sz="2200"/>
            </a:pPr>
            <a:r>
              <a:rPr dirty="0"/>
              <a:t>Initial visual output appeared to contain oversized boxes.</a:t>
            </a:r>
          </a:p>
          <a:p>
            <a:pPr>
              <a:defRPr sz="2200"/>
            </a:pPr>
            <a:r>
              <a:rPr dirty="0"/>
              <a:t>Raw YOLO coordinates were inspected directly.</a:t>
            </a:r>
          </a:p>
          <a:p>
            <a:pPr>
              <a:defRPr sz="2200"/>
            </a:pPr>
            <a:r>
              <a:rPr dirty="0"/>
              <a:t>Width and height were calculated from x2-x1 and y2-y1.</a:t>
            </a:r>
          </a:p>
          <a:p>
            <a:pPr>
              <a:defRPr sz="2200"/>
            </a:pPr>
            <a:r>
              <a:rPr dirty="0"/>
              <a:t>The drawing stage was found to be the source of the visual mismatch.</a:t>
            </a:r>
          </a:p>
          <a:p>
            <a:pPr>
              <a:defRPr sz="2200"/>
            </a:pPr>
            <a:r>
              <a:rPr dirty="0"/>
              <a:t>The drawing function was us</a:t>
            </a:r>
            <a:r>
              <a:rPr lang="en-US" dirty="0"/>
              <a:t>ing</a:t>
            </a:r>
            <a:r>
              <a:rPr dirty="0"/>
              <a:t> the same integer coordinates for measurement and rendering.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9. Current Challenges</a:t>
            </a:r>
          </a:p>
        </p:txBody>
      </p:sp>
      <p:sp>
        <p:nvSpPr>
          <p:cNvPr id="3" name="Content Placeholder 2"/>
          <p:cNvSpPr>
            <a:spLocks noGrp="1"/>
          </p:cNvSpPr>
          <p:nvPr>
            <p:ph idx="1"/>
          </p:nvPr>
        </p:nvSpPr>
        <p:spPr/>
        <p:txBody>
          <a:bodyPr/>
          <a:lstStyle/>
          <a:p>
            <a:pPr>
              <a:defRPr sz="2200"/>
            </a:pPr>
            <a:r>
              <a:rPr dirty="0"/>
              <a:t>Some small/distant cars are missed.</a:t>
            </a:r>
          </a:p>
          <a:p>
            <a:pPr>
              <a:defRPr sz="2200"/>
            </a:pPr>
            <a:r>
              <a:rPr dirty="0"/>
              <a:t>Fast-moving cars can be difficult to detect consistently.</a:t>
            </a:r>
          </a:p>
          <a:p>
            <a:pPr>
              <a:defRPr sz="2200"/>
            </a:pPr>
            <a:r>
              <a:rPr dirty="0"/>
              <a:t>Some remaining Track ID switches can occur.</a:t>
            </a:r>
          </a:p>
          <a:p>
            <a:pPr>
              <a:defRPr sz="2200"/>
            </a:pPr>
            <a:r>
              <a:rPr dirty="0"/>
              <a:t>Vehicles close to each other create association ambiguity.</a:t>
            </a:r>
          </a:p>
          <a:p>
            <a:pPr>
              <a:defRPr sz="2200"/>
            </a:pPr>
            <a:r>
              <a:rPr dirty="0"/>
              <a:t>Perspective creates large differences in apparent vehicle size.</a:t>
            </a:r>
          </a:p>
          <a:p>
            <a:pPr>
              <a:defRPr sz="2200"/>
            </a:pPr>
            <a:r>
              <a:rPr dirty="0"/>
              <a:t>Detection quality and tracking quality need to be evaluated separately.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10. Methodology for Improvement</a:t>
            </a:r>
          </a:p>
        </p:txBody>
      </p:sp>
      <p:sp>
        <p:nvSpPr>
          <p:cNvPr id="3" name="Content Placeholder 2"/>
          <p:cNvSpPr>
            <a:spLocks noGrp="1"/>
          </p:cNvSpPr>
          <p:nvPr>
            <p:ph idx="1"/>
          </p:nvPr>
        </p:nvSpPr>
        <p:spPr/>
        <p:txBody>
          <a:bodyPr/>
          <a:lstStyle/>
          <a:p>
            <a:pPr>
              <a:defRPr sz="2200"/>
            </a:pPr>
            <a:r>
              <a:rPr dirty="0"/>
              <a:t>Freeze the working tracking configuration as a baseline.</a:t>
            </a:r>
          </a:p>
          <a:p>
            <a:pPr>
              <a:defRPr sz="2200"/>
            </a:pPr>
            <a:r>
              <a:rPr dirty="0"/>
              <a:t>Change one major variable at a time.</a:t>
            </a:r>
          </a:p>
          <a:p>
            <a:pPr>
              <a:defRPr sz="2200"/>
            </a:pPr>
            <a:r>
              <a:rPr dirty="0"/>
              <a:t>Separate detector failures from tracker failures.</a:t>
            </a:r>
          </a:p>
          <a:p>
            <a:pPr>
              <a:defRPr sz="2200"/>
            </a:pPr>
            <a:r>
              <a:rPr dirty="0"/>
              <a:t>Compare detection quality on small and fast vehicles.</a:t>
            </a:r>
          </a:p>
          <a:p>
            <a:pPr>
              <a:defRPr sz="2200"/>
            </a:pPr>
            <a:r>
              <a:rPr dirty="0"/>
              <a:t>Measure Track ID fragmentation and recovery.</a:t>
            </a:r>
          </a:p>
          <a:p>
            <a:pPr>
              <a:defRPr sz="2200"/>
            </a:pPr>
            <a:r>
              <a:rPr dirty="0"/>
              <a:t>Document both improvements and failure cases.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11. </a:t>
            </a:r>
            <a:r>
              <a:rPr lang="en-US" dirty="0"/>
              <a:t>Solving the challenges</a:t>
            </a:r>
            <a:endParaRPr dirty="0"/>
          </a:p>
        </p:txBody>
      </p:sp>
      <p:sp>
        <p:nvSpPr>
          <p:cNvPr id="3" name="Content Placeholder 2"/>
          <p:cNvSpPr>
            <a:spLocks noGrp="1"/>
          </p:cNvSpPr>
          <p:nvPr>
            <p:ph idx="1"/>
          </p:nvPr>
        </p:nvSpPr>
        <p:spPr>
          <a:xfrm>
            <a:off x="457200" y="1600200"/>
            <a:ext cx="10987238" cy="4525963"/>
          </a:xfrm>
        </p:spPr>
        <p:txBody>
          <a:bodyPr/>
          <a:lstStyle/>
          <a:p>
            <a:pPr>
              <a:defRPr sz="2200"/>
            </a:pPr>
            <a:r>
              <a:rPr lang="en-US" dirty="0"/>
              <a:t>The initial parameters for the YOLO model were: conf: 0.4 and </a:t>
            </a:r>
            <a:r>
              <a:rPr lang="en-US" dirty="0" err="1"/>
              <a:t>iou</a:t>
            </a:r>
            <a:r>
              <a:rPr lang="en-US" dirty="0"/>
              <a:t>: 0.30 by changing the </a:t>
            </a:r>
            <a:r>
              <a:rPr lang="en-US" dirty="0" err="1"/>
              <a:t>iou</a:t>
            </a:r>
            <a:r>
              <a:rPr lang="en-US" dirty="0"/>
              <a:t> to a bigger value, </a:t>
            </a:r>
            <a:r>
              <a:rPr lang="en-GB" sz="2200" dirty="0"/>
              <a:t>it helps in crowded scenes, putting it high means that the model can tolerate the overlapping boxes. As for the conf lowering it, the detection will be less accurate and will detect distant object, blurry ones too.</a:t>
            </a:r>
          </a:p>
          <a:p>
            <a:pPr>
              <a:defRPr sz="2200"/>
            </a:pPr>
            <a:r>
              <a:rPr lang="en-GB" sz="2200" dirty="0"/>
              <a:t>Making a costume </a:t>
            </a:r>
            <a:r>
              <a:rPr lang="en-GB" sz="2200" dirty="0" err="1"/>
              <a:t>bytetrack.yaml</a:t>
            </a:r>
            <a:r>
              <a:rPr lang="en-GB" sz="2200" dirty="0"/>
              <a:t> to improve the track ID stability, and more tolerating the short detection gaps. </a:t>
            </a:r>
            <a:r>
              <a:rPr lang="en-GB" sz="2200" dirty="0" err="1"/>
              <a:t>Track_buffer</a:t>
            </a:r>
            <a:r>
              <a:rPr lang="en-GB" sz="2200" dirty="0"/>
              <a:t>: 90, </a:t>
            </a:r>
            <a:r>
              <a:rPr lang="en-GB" dirty="0"/>
              <a:t>It allows a track to remain alive for a certain number of frames when the object is temporarily not detected. </a:t>
            </a:r>
            <a:r>
              <a:rPr lang="en-GB" sz="2200" dirty="0" err="1"/>
              <a:t>match_thresh</a:t>
            </a:r>
            <a:r>
              <a:rPr lang="en-GB" sz="2200" dirty="0"/>
              <a:t>: 0.95, t</a:t>
            </a:r>
            <a:r>
              <a:rPr lang="en-GB" dirty="0"/>
              <a:t>o control the new detection and easily associated with an existing track. </a:t>
            </a:r>
          </a:p>
          <a:p>
            <a:pPr>
              <a:defRPr sz="2200"/>
            </a:pPr>
            <a:r>
              <a:rPr lang="en-GB" dirty="0"/>
              <a:t>Higher FPS gives the video a smoother motion and gives a tracking algorithm more observations between movements.</a:t>
            </a:r>
            <a:endParaRPr lang="en-GB" sz="2200" dirty="0"/>
          </a:p>
          <a:p>
            <a:pPr>
              <a:defRPr sz="2200"/>
            </a:pPr>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32</TotalTime>
  <Words>640</Words>
  <Application>Microsoft Office PowerPoint</Application>
  <PresentationFormat>Widescreen</PresentationFormat>
  <Paragraphs>68</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Computer Vision Vehicle Detection &amp; Tracking</vt:lpstr>
      <vt:lpstr>1. Problem &amp; Objectives</vt:lpstr>
      <vt:lpstr>2. Pipeline Architecture</vt:lpstr>
      <vt:lpstr>4. Object Detection</vt:lpstr>
      <vt:lpstr>5. Multi-Object Tracking</vt:lpstr>
      <vt:lpstr>6. Custom ByteTrack Configuration</vt:lpstr>
      <vt:lpstr>7. Initial Tracking Analysis</vt:lpstr>
      <vt:lpstr>8. Debugging the Bounding Boxes</vt:lpstr>
      <vt:lpstr>9. Current Challenges</vt:lpstr>
      <vt:lpstr>10. Methodology for Improvement</vt:lpstr>
      <vt:lpstr>11. Solving the challenges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Ref Daraf</cp:lastModifiedBy>
  <cp:revision>9</cp:revision>
  <dcterms:created xsi:type="dcterms:W3CDTF">2013-01-27T09:14:16Z</dcterms:created>
  <dcterms:modified xsi:type="dcterms:W3CDTF">2026-09-10T20:28:58Z</dcterms:modified>
  <cp:category/>
</cp:coreProperties>
</file>